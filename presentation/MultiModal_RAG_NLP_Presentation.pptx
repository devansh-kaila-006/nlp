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1" r:id="rId5"/>
    <p:sldId id="262" r:id="rId6"/>
    <p:sldId id="269" r:id="rId7"/>
    <p:sldId id="263" r:id="rId8"/>
    <p:sldId id="265" r:id="rId9"/>
    <p:sldId id="266" r:id="rId10"/>
    <p:sldId id="267" r:id="rId11"/>
    <p:sldId id="271" r:id="rId12"/>
    <p:sldId id="272" r:id="rId13"/>
    <p:sldId id="273" r:id="rId14"/>
    <p:sldId id="27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2D1B99-F164-4711-B3D0-8D19BC5D1779}" v="4" dt="2026-05-20T17:45:31.9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vansh Kaila" userId="4cc9a3254fdd32dd" providerId="LiveId" clId="{9CF66A95-CACB-4F60-B03F-790BDA30FCC3}"/>
    <pc:docChg chg="custSel delSld modSld sldOrd">
      <pc:chgData name="Devansh Kaila" userId="4cc9a3254fdd32dd" providerId="LiveId" clId="{9CF66A95-CACB-4F60-B03F-790BDA30FCC3}" dt="2026-05-21T05:10:16.804" v="358" actId="20577"/>
      <pc:docMkLst>
        <pc:docMk/>
      </pc:docMkLst>
      <pc:sldChg chg="addSp delSp modSp mod">
        <pc:chgData name="Devansh Kaila" userId="4cc9a3254fdd32dd" providerId="LiveId" clId="{9CF66A95-CACB-4F60-B03F-790BDA30FCC3}" dt="2026-05-20T17:46:51.596" v="252" actId="1036"/>
        <pc:sldMkLst>
          <pc:docMk/>
          <pc:sldMk cId="0" sldId="256"/>
        </pc:sldMkLst>
        <pc:spChg chg="mod">
          <ac:chgData name="Devansh Kaila" userId="4cc9a3254fdd32dd" providerId="LiveId" clId="{9CF66A95-CACB-4F60-B03F-790BDA30FCC3}" dt="2026-05-20T17:46:51.596" v="252" actId="10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6:51.596" v="252" actId="1036"/>
          <ac:spMkLst>
            <pc:docMk/>
            <pc:sldMk cId="0" sldId="256"/>
            <ac:spMk id="4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6:51.596" v="252" actId="1036"/>
          <ac:spMkLst>
            <pc:docMk/>
            <pc:sldMk cId="0" sldId="256"/>
            <ac:spMk id="5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16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19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26" creationId="{00000000-0000-0000-0000-000000000000}"/>
          </ac:spMkLst>
        </pc:spChg>
        <pc:spChg chg="del">
          <ac:chgData name="Devansh Kaila" userId="4cc9a3254fdd32dd" providerId="LiveId" clId="{9CF66A95-CACB-4F60-B03F-790BDA30FCC3}" dt="2026-05-20T17:43:50.134" v="49" actId="478"/>
          <ac:spMkLst>
            <pc:docMk/>
            <pc:sldMk cId="0" sldId="256"/>
            <ac:spMk id="27" creationId="{00000000-0000-0000-0000-000000000000}"/>
          </ac:spMkLst>
        </pc:spChg>
        <pc:spChg chg="add mod">
          <ac:chgData name="Devansh Kaila" userId="4cc9a3254fdd32dd" providerId="LiveId" clId="{9CF66A95-CACB-4F60-B03F-790BDA30FCC3}" dt="2026-05-20T17:46:46.405" v="218" actId="1076"/>
          <ac:spMkLst>
            <pc:docMk/>
            <pc:sldMk cId="0" sldId="256"/>
            <ac:spMk id="29" creationId="{0921F8E6-E5F6-3F53-B814-08F6A1ABC209}"/>
          </ac:spMkLst>
        </pc:spChg>
        <pc:spChg chg="add mod">
          <ac:chgData name="Devansh Kaila" userId="4cc9a3254fdd32dd" providerId="LiveId" clId="{9CF66A95-CACB-4F60-B03F-790BDA30FCC3}" dt="2026-05-20T17:46:46.405" v="218" actId="1076"/>
          <ac:spMkLst>
            <pc:docMk/>
            <pc:sldMk cId="0" sldId="256"/>
            <ac:spMk id="30" creationId="{4BCAC99F-14CC-F878-4DF3-61C7BF920AF5}"/>
          </ac:spMkLst>
        </pc:spChg>
        <pc:spChg chg="add mod">
          <ac:chgData name="Devansh Kaila" userId="4cc9a3254fdd32dd" providerId="LiveId" clId="{9CF66A95-CACB-4F60-B03F-790BDA30FCC3}" dt="2026-05-20T17:46:46.405" v="218" actId="1076"/>
          <ac:spMkLst>
            <pc:docMk/>
            <pc:sldMk cId="0" sldId="256"/>
            <ac:spMk id="31" creationId="{49A3063E-C328-21FC-2DE4-C2B7E3ACF180}"/>
          </ac:spMkLst>
        </pc:spChg>
      </pc:sldChg>
      <pc:sldChg chg="modSp mod">
        <pc:chgData name="Devansh Kaila" userId="4cc9a3254fdd32dd" providerId="LiveId" clId="{9CF66A95-CACB-4F60-B03F-790BDA30FCC3}" dt="2026-05-20T17:42:08.346" v="13" actId="20577"/>
        <pc:sldMkLst>
          <pc:docMk/>
          <pc:sldMk cId="0" sldId="257"/>
        </pc:sldMkLst>
        <pc:spChg chg="mod">
          <ac:chgData name="Devansh Kaila" userId="4cc9a3254fdd32dd" providerId="LiveId" clId="{9CF66A95-CACB-4F60-B03F-790BDA30FCC3}" dt="2026-05-20T17:42:03.562" v="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2:05.945" v="10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2:08.346" v="13" actId="20577"/>
          <ac:spMkLst>
            <pc:docMk/>
            <pc:sldMk cId="0" sldId="257"/>
            <ac:spMk id="15" creationId="{00000000-0000-0000-0000-000000000000}"/>
          </ac:spMkLst>
        </pc:spChg>
      </pc:sldChg>
      <pc:sldChg chg="del">
        <pc:chgData name="Devansh Kaila" userId="4cc9a3254fdd32dd" providerId="LiveId" clId="{9CF66A95-CACB-4F60-B03F-790BDA30FCC3}" dt="2026-05-20T17:41:54.669" v="4" actId="47"/>
        <pc:sldMkLst>
          <pc:docMk/>
          <pc:sldMk cId="0" sldId="258"/>
        </pc:sldMkLst>
      </pc:sldChg>
      <pc:sldChg chg="del">
        <pc:chgData name="Devansh Kaila" userId="4cc9a3254fdd32dd" providerId="LiveId" clId="{9CF66A95-CACB-4F60-B03F-790BDA30FCC3}" dt="2026-05-20T17:41:53.012" v="3" actId="47"/>
        <pc:sldMkLst>
          <pc:docMk/>
          <pc:sldMk cId="0" sldId="259"/>
        </pc:sldMkLst>
      </pc:sldChg>
      <pc:sldChg chg="modSp mod">
        <pc:chgData name="Devansh Kaila" userId="4cc9a3254fdd32dd" providerId="LiveId" clId="{9CF66A95-CACB-4F60-B03F-790BDA30FCC3}" dt="2026-05-20T17:48:00.324" v="253" actId="1036"/>
        <pc:sldMkLst>
          <pc:docMk/>
          <pc:sldMk cId="0" sldId="261"/>
        </pc:sldMkLst>
        <pc:spChg chg="mod">
          <ac:chgData name="Devansh Kaila" userId="4cc9a3254fdd32dd" providerId="LiveId" clId="{9CF66A95-CACB-4F60-B03F-790BDA30FCC3}" dt="2026-05-20T17:48:00.324" v="253" actId="1036"/>
          <ac:spMkLst>
            <pc:docMk/>
            <pc:sldMk cId="0" sldId="261"/>
            <ac:spMk id="21" creationId="{00000000-0000-0000-0000-000000000000}"/>
          </ac:spMkLst>
        </pc:spChg>
      </pc:sldChg>
      <pc:sldChg chg="del">
        <pc:chgData name="Devansh Kaila" userId="4cc9a3254fdd32dd" providerId="LiveId" clId="{9CF66A95-CACB-4F60-B03F-790BDA30FCC3}" dt="2026-05-20T17:41:06.473" v="2" actId="47"/>
        <pc:sldMkLst>
          <pc:docMk/>
          <pc:sldMk cId="0" sldId="264"/>
        </pc:sldMkLst>
      </pc:sldChg>
      <pc:sldChg chg="modSp mod">
        <pc:chgData name="Devansh Kaila" userId="4cc9a3254fdd32dd" providerId="LiveId" clId="{9CF66A95-CACB-4F60-B03F-790BDA30FCC3}" dt="2026-05-20T17:42:30.800" v="19" actId="20577"/>
        <pc:sldMkLst>
          <pc:docMk/>
          <pc:sldMk cId="0" sldId="266"/>
        </pc:sldMkLst>
        <pc:spChg chg="mod">
          <ac:chgData name="Devansh Kaila" userId="4cc9a3254fdd32dd" providerId="LiveId" clId="{9CF66A95-CACB-4F60-B03F-790BDA30FCC3}" dt="2026-05-20T17:42:26.325" v="15" actId="20577"/>
          <ac:spMkLst>
            <pc:docMk/>
            <pc:sldMk cId="0" sldId="266"/>
            <ac:spMk id="5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2:28.343" v="17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2:30.800" v="19" actId="20577"/>
          <ac:spMkLst>
            <pc:docMk/>
            <pc:sldMk cId="0" sldId="266"/>
            <ac:spMk id="18" creationId="{00000000-0000-0000-0000-000000000000}"/>
          </ac:spMkLst>
        </pc:spChg>
      </pc:sldChg>
      <pc:sldChg chg="modSp mod">
        <pc:chgData name="Devansh Kaila" userId="4cc9a3254fdd32dd" providerId="LiveId" clId="{9CF66A95-CACB-4F60-B03F-790BDA30FCC3}" dt="2026-05-21T05:10:16.804" v="358" actId="20577"/>
        <pc:sldMkLst>
          <pc:docMk/>
          <pc:sldMk cId="0" sldId="267"/>
        </pc:sldMkLst>
        <pc:spChg chg="mod">
          <ac:chgData name="Devansh Kaila" userId="4cc9a3254fdd32dd" providerId="LiveId" clId="{9CF66A95-CACB-4F60-B03F-790BDA30FCC3}" dt="2026-05-21T05:09:56.729" v="352" actId="20577"/>
          <ac:spMkLst>
            <pc:docMk/>
            <pc:sldMk cId="0" sldId="267"/>
            <ac:spMk id="19" creationId="{00000000-0000-0000-0000-000000000000}"/>
          </ac:spMkLst>
        </pc:spChg>
        <pc:spChg chg="mod">
          <ac:chgData name="Devansh Kaila" userId="4cc9a3254fdd32dd" providerId="LiveId" clId="{9CF66A95-CACB-4F60-B03F-790BDA30FCC3}" dt="2026-05-21T05:10:00.157" v="354" actId="20577"/>
          <ac:spMkLst>
            <pc:docMk/>
            <pc:sldMk cId="0" sldId="267"/>
            <ac:spMk id="20" creationId="{00000000-0000-0000-0000-000000000000}"/>
          </ac:spMkLst>
        </pc:spChg>
        <pc:spChg chg="mod">
          <ac:chgData name="Devansh Kaila" userId="4cc9a3254fdd32dd" providerId="LiveId" clId="{9CF66A95-CACB-4F60-B03F-790BDA30FCC3}" dt="2026-05-21T05:10:07.361" v="356" actId="20577"/>
          <ac:spMkLst>
            <pc:docMk/>
            <pc:sldMk cId="0" sldId="267"/>
            <ac:spMk id="21" creationId="{00000000-0000-0000-0000-000000000000}"/>
          </ac:spMkLst>
        </pc:spChg>
        <pc:spChg chg="mod">
          <ac:chgData name="Devansh Kaila" userId="4cc9a3254fdd32dd" providerId="LiveId" clId="{9CF66A95-CACB-4F60-B03F-790BDA30FCC3}" dt="2026-05-21T05:10:16.804" v="358" actId="20577"/>
          <ac:spMkLst>
            <pc:docMk/>
            <pc:sldMk cId="0" sldId="267"/>
            <ac:spMk id="22" creationId="{00000000-0000-0000-0000-000000000000}"/>
          </ac:spMkLst>
        </pc:spChg>
      </pc:sldChg>
      <pc:sldChg chg="del">
        <pc:chgData name="Devansh Kaila" userId="4cc9a3254fdd32dd" providerId="LiveId" clId="{9CF66A95-CACB-4F60-B03F-790BDA30FCC3}" dt="2026-05-20T17:39:12.978" v="0" actId="47"/>
        <pc:sldMkLst>
          <pc:docMk/>
          <pc:sldMk cId="0" sldId="268"/>
        </pc:sldMkLst>
      </pc:sldChg>
      <pc:sldChg chg="ord">
        <pc:chgData name="Devansh Kaila" userId="4cc9a3254fdd32dd" providerId="LiveId" clId="{9CF66A95-CACB-4F60-B03F-790BDA30FCC3}" dt="2026-05-20T17:42:45.025" v="21"/>
        <pc:sldMkLst>
          <pc:docMk/>
          <pc:sldMk cId="0" sldId="269"/>
        </pc:sldMkLst>
      </pc:sldChg>
      <pc:sldChg chg="del">
        <pc:chgData name="Devansh Kaila" userId="4cc9a3254fdd32dd" providerId="LiveId" clId="{9CF66A95-CACB-4F60-B03F-790BDA30FCC3}" dt="2026-05-20T17:40:01.991" v="1" actId="47"/>
        <pc:sldMkLst>
          <pc:docMk/>
          <pc:sldMk cId="0" sldId="270"/>
        </pc:sldMkLst>
      </pc:sldChg>
      <pc:sldChg chg="modSp mod">
        <pc:chgData name="Devansh Kaila" userId="4cc9a3254fdd32dd" providerId="LiveId" clId="{9CF66A95-CACB-4F60-B03F-790BDA30FCC3}" dt="2026-05-20T17:43:33.752" v="48" actId="20577"/>
        <pc:sldMkLst>
          <pc:docMk/>
          <pc:sldMk cId="0" sldId="271"/>
        </pc:sldMkLst>
        <pc:spChg chg="mod">
          <ac:chgData name="Devansh Kaila" userId="4cc9a3254fdd32dd" providerId="LiveId" clId="{9CF66A95-CACB-4F60-B03F-790BDA30FCC3}" dt="2026-05-20T17:43:33.752" v="48" actId="20577"/>
          <ac:spMkLst>
            <pc:docMk/>
            <pc:sldMk cId="0" sldId="271"/>
            <ac:spMk id="6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3:31.248" v="45" actId="20577"/>
          <ac:spMkLst>
            <pc:docMk/>
            <pc:sldMk cId="0" sldId="271"/>
            <ac:spMk id="15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3:28.852" v="42" actId="20577"/>
          <ac:spMkLst>
            <pc:docMk/>
            <pc:sldMk cId="0" sldId="271"/>
            <ac:spMk id="22" creationId="{00000000-0000-0000-0000-000000000000}"/>
          </ac:spMkLst>
        </pc:spChg>
      </pc:sldChg>
      <pc:sldChg chg="modSp mod">
        <pc:chgData name="Devansh Kaila" userId="4cc9a3254fdd32dd" providerId="LiveId" clId="{9CF66A95-CACB-4F60-B03F-790BDA30FCC3}" dt="2026-05-20T17:43:20.458" v="39" actId="20577"/>
        <pc:sldMkLst>
          <pc:docMk/>
          <pc:sldMk cId="0" sldId="272"/>
        </pc:sldMkLst>
        <pc:graphicFrameChg chg="modGraphic">
          <ac:chgData name="Devansh Kaila" userId="4cc9a3254fdd32dd" providerId="LiveId" clId="{9CF66A95-CACB-4F60-B03F-790BDA30FCC3}" dt="2026-05-20T17:43:20.458" v="39" actId="20577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delSp modSp mod">
        <pc:chgData name="Devansh Kaila" userId="4cc9a3254fdd32dd" providerId="LiveId" clId="{9CF66A95-CACB-4F60-B03F-790BDA30FCC3}" dt="2026-05-20T17:55:35.829" v="350" actId="14100"/>
        <pc:sldMkLst>
          <pc:docMk/>
          <pc:sldMk cId="0" sldId="273"/>
        </pc:sldMkLst>
        <pc:spChg chg="mod">
          <ac:chgData name="Devansh Kaila" userId="4cc9a3254fdd32dd" providerId="LiveId" clId="{9CF66A95-CACB-4F60-B03F-790BDA30FCC3}" dt="2026-05-20T17:55:19.392" v="348" actId="20577"/>
          <ac:spMkLst>
            <pc:docMk/>
            <pc:sldMk cId="0" sldId="273"/>
            <ac:spMk id="3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55:15.468" v="326" actId="1035"/>
          <ac:spMkLst>
            <pc:docMk/>
            <pc:sldMk cId="0" sldId="273"/>
            <ac:spMk id="5" creationId="{00000000-0000-0000-0000-000000000000}"/>
          </ac:spMkLst>
        </pc:spChg>
        <pc:graphicFrameChg chg="del">
          <ac:chgData name="Devansh Kaila" userId="4cc9a3254fdd32dd" providerId="LiveId" clId="{9CF66A95-CACB-4F60-B03F-790BDA30FCC3}" dt="2026-05-20T17:55:07.777" v="254" actId="478"/>
          <ac:graphicFrameMkLst>
            <pc:docMk/>
            <pc:sldMk cId="0" sldId="273"/>
            <ac:graphicFrameMk id="19" creationId="{00000000-0000-0000-0000-000000000000}"/>
          </ac:graphicFrameMkLst>
        </pc:graphicFrameChg>
        <pc:graphicFrameChg chg="mod modGraphic">
          <ac:chgData name="Devansh Kaila" userId="4cc9a3254fdd32dd" providerId="LiveId" clId="{9CF66A95-CACB-4F60-B03F-790BDA30FCC3}" dt="2026-05-20T17:55:35.829" v="350" actId="14100"/>
          <ac:graphicFrameMkLst>
            <pc:docMk/>
            <pc:sldMk cId="0" sldId="273"/>
            <ac:graphicFrameMk id="37" creationId="{00000000-0000-0000-0000-000000000000}"/>
          </ac:graphicFrameMkLst>
        </pc:graphicFrameChg>
      </pc:sldChg>
      <pc:sldChg chg="modSp mod">
        <pc:chgData name="Devansh Kaila" userId="4cc9a3254fdd32dd" providerId="LiveId" clId="{9CF66A95-CACB-4F60-B03F-790BDA30FCC3}" dt="2026-05-20T17:43:06.690" v="27" actId="20577"/>
        <pc:sldMkLst>
          <pc:docMk/>
          <pc:sldMk cId="0" sldId="274"/>
        </pc:sldMkLst>
        <pc:spChg chg="mod">
          <ac:chgData name="Devansh Kaila" userId="4cc9a3254fdd32dd" providerId="LiveId" clId="{9CF66A95-CACB-4F60-B03F-790BDA30FCC3}" dt="2026-05-20T17:43:03.202" v="24" actId="20577"/>
          <ac:spMkLst>
            <pc:docMk/>
            <pc:sldMk cId="0" sldId="274"/>
            <ac:spMk id="5" creationId="{00000000-0000-0000-0000-000000000000}"/>
          </ac:spMkLst>
        </pc:spChg>
        <pc:spChg chg="mod">
          <ac:chgData name="Devansh Kaila" userId="4cc9a3254fdd32dd" providerId="LiveId" clId="{9CF66A95-CACB-4F60-B03F-790BDA30FCC3}" dt="2026-05-20T17:43:06.690" v="27" actId="20577"/>
          <ac:spMkLst>
            <pc:docMk/>
            <pc:sldMk cId="0" sldId="274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87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1366698"/>
            <a:ext cx="8229600" cy="1371600"/>
          </a:xfrm>
          <a:prstGeom prst="rect">
            <a:avLst/>
          </a:prstGeom>
          <a:solidFill>
            <a:srgbClr val="1E1B4B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50385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RAG System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23537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Educational AI Assistant with Three Novel Innovations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End Semester Presentation  ·  2026</a:t>
            </a:r>
            <a:endParaRPr lang="en-US" sz="1000" dirty="0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0921F8E6-E5F6-3F53-B814-08F6A1ABC209}"/>
              </a:ext>
            </a:extLst>
          </p:cNvPr>
          <p:cNvSpPr/>
          <p:nvPr/>
        </p:nvSpPr>
        <p:spPr>
          <a:xfrm>
            <a:off x="3033031" y="3352254"/>
            <a:ext cx="3241221" cy="1323431"/>
          </a:xfrm>
          <a:prstGeom prst="rect">
            <a:avLst/>
          </a:prstGeom>
          <a:solidFill>
            <a:srgbClr val="1E1B4B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4BCAC99F-14CC-F878-4DF3-61C7BF920AF5}"/>
              </a:ext>
            </a:extLst>
          </p:cNvPr>
          <p:cNvSpPr/>
          <p:nvPr/>
        </p:nvSpPr>
        <p:spPr>
          <a:xfrm>
            <a:off x="3033031" y="3450880"/>
            <a:ext cx="3241221" cy="26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15</a:t>
            </a:r>
            <a:endParaRPr lang="en-US" sz="14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49A3063E-C328-21FC-2DE4-C2B7E3ACF180}"/>
              </a:ext>
            </a:extLst>
          </p:cNvPr>
          <p:cNvSpPr/>
          <p:nvPr/>
        </p:nvSpPr>
        <p:spPr>
          <a:xfrm>
            <a:off x="3033031" y="3793338"/>
            <a:ext cx="3241221" cy="790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Devansh Kaila            (BL.EN.U4AIE23004)</a:t>
            </a:r>
          </a:p>
          <a:p>
            <a:pPr algn="ctr"/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 Nair                 (BL.EN.U4AIE23028)</a:t>
            </a:r>
          </a:p>
          <a:p>
            <a:pPr algn="ctr"/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Tanay Ashish                (BL.EN.U4AIE23035)</a:t>
            </a:r>
          </a:p>
          <a:p>
            <a:pPr algn="ctr"/>
            <a:r>
              <a:rPr lang="en-US" sz="14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Anantha Krishnan K S (BL.EN.U4AIE23056)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Retrieval-Augmented Generation (RAG) for Educational AI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64008" cy="100584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11704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researchers struggle to navigate vast multi-modal educational content — videos, textbooks, and modern web articles are siloed and hard to query intelligently.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64008" cy="100584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5800" y="23591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systems can bridge the gap by retrieving semantically relevant content and generating grounded, cited answers — but existing systems fail to handle video, PDFs, and web content together.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64008" cy="1005840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5800" y="35478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production-ready multi-modal RAG system combining 5 Stanford/MIT video courses, academic PDFs, and modern AI primers with three novel innovations in video retrieval.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57200" cy="1188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60120" y="93268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Democratizing Elite University Education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80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CS229, CS224n, CS231n, and MIT 6.S191 contain world-class AI/ML instruction — but the content is locked in hours of video. A multi-modal RAG system makes this knowledge instantly queryable, enabling students globally to ask natural language questions and get cited answers with direct video timestamp navigation.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14884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457200" cy="1188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214884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" y="22585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Theory and Practice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6060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PDFs provide mathematical foundations; video lectures provide intuitive explanations; modern web primers cover cutting-edge topics. No single modality is sufficient. Cross-modal RAG uniquely combines all three, matching each query to its optimal content source automatically — a capability absent in existing systems.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412480" cy="1188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457200" cy="11887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4747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0120" y="35844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Advancing the State of Video RAG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9319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is the fastest-growing educational format yet remains the most underserved in RAG research. Timestamp-aware retrieval with temporal coherence is a novel, practical contribution with clear applications beyond education: lecture search, corporate training, technical documentation, and more.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pic>
        <p:nvPicPr>
          <p:cNvPr id="4" name="Image 0" descr="C:\Users\devan\OneDrive\Desktop\NLP\images\Screenshot 2026-05-20 2042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40080"/>
            <a:ext cx="5120640" cy="4297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640080"/>
            <a:ext cx="347472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394960" y="640080"/>
            <a:ext cx="54864" cy="694944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532120" y="694944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Modality Prediction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532120" y="9875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query → video/PDF/web (97% accuracy)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394960" y="1444752"/>
            <a:ext cx="347472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394960" y="1444752"/>
            <a:ext cx="54864" cy="69494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32120" y="1499616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Parallel Retrieval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532120" y="17922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search across 7 FAISS indices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394960" y="2249424"/>
            <a:ext cx="347472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Shape 11"/>
          <p:cNvSpPr/>
          <p:nvPr/>
        </p:nvSpPr>
        <p:spPr>
          <a:xfrm>
            <a:off x="5394960" y="2249424"/>
            <a:ext cx="54864" cy="69494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532120" y="2304288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Cross-Modal Reranking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32120" y="2596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detection + adaptive reranking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394960" y="3054096"/>
            <a:ext cx="347472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394960" y="3054096"/>
            <a:ext cx="54864" cy="69494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532120" y="3108960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Temporal Coherence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532120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Flow-aware ordering via NetworkX dependency graphs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394960" y="3862850"/>
            <a:ext cx="3474720" cy="694944"/>
          </a:xfrm>
          <a:prstGeom prst="rect">
            <a:avLst/>
          </a:prstGeom>
          <a:solidFill>
            <a:srgbClr val="161B22"/>
          </a:solidFill>
          <a:ln w="9525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5394960" y="3858768"/>
            <a:ext cx="54864" cy="694944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532120" y="39136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Answer Generation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32120" y="4206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 Lite with timestamp video links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394960" y="4663440"/>
            <a:ext cx="347472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394960" y="4663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Store: 7 FAISS indices · 12,717 chunks · 384-dim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Explained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57200" cy="12344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686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Uses a classification model to predict which content type (video/PDF/web) best answers the query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" y="138988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Achieves 97% accuracy via query keywords and semantic analysis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0120" y="159105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Enables targeted retrieval instead of brute-force search across all indices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179222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Reduces latency by 40% compared to omnidirectional retrieval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8412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457200" cy="12344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21488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60120" y="22402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Retrieval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56032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Simultaneously searches 7 FAISS indices (3 video, 3 PDF, 1 web)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0120" y="276148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Uses all-MiniLM-L6-v2 embeddings for semantic similarity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60120" y="296265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Retrieves top-25 chunks per modality in under 200ms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60120" y="316382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IndexFlatIP provides exact inner product search for maximum accuracy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412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57200" cy="1234440"/>
          </a:xfrm>
          <a:prstGeom prst="rect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5204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60120" y="36118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Reranking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93192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ms-marco-MiniLM-L-6-v2 cross-encoder reranks retrieved chunks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413308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Adaptive reranking: simple queries skip, complex queries get full rerank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433425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Reduces top-25 → top-3 per modality based on query-passage relevance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60120" y="453542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Improves precision by 35% while maintaining recall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18C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Novel Innovations</a:t>
            </a:r>
            <a:endParaRPr lang="en-US" sz="2600" dirty="0"/>
          </a:p>
        </p:txBody>
      </p:sp>
      <p:pic>
        <p:nvPicPr>
          <p:cNvPr id="4" name="Image 0" descr="C:\Users\devan\OneDrive\Desktop\NLP\images\Screenshot 2026-05-20 20431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640080"/>
            <a:ext cx="87782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timing breakdown — avg 12s total · 100% success rate (72/72 queries)</a:t>
            </a:r>
            <a:endParaRPr lang="en-US" sz="1100" dirty="0"/>
          </a:p>
        </p:txBody>
      </p:sp>
      <p:pic>
        <p:nvPicPr>
          <p:cNvPr id="5" name="Image 0" descr="C:\Users\devan\OneDrive\Desktop\NLP\images\Screenshot 2026-05-20 20422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859536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Pipelines</a:t>
            </a:r>
            <a:endParaRPr lang="en-US" sz="2600" dirty="0"/>
          </a:p>
        </p:txBody>
      </p:sp>
      <p:pic>
        <p:nvPicPr>
          <p:cNvPr id="4" name="Image 0" descr="C:\Users\devan\OneDrive\Desktop\NLP\images\Screenshot 2026-05-20 2042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40080"/>
            <a:ext cx="859536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 Details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8503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Processing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Download course playlists (5 Stanford/MIT courses: 115 videos, 150+ hours)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30759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Extract SRT transcripts using yt-dlp (timestamped text)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7218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Chunk by semantic boundaries (max 500 chars) preserving timestamp continuity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3677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Store with video_id, start_time, end_time for direct timestamp linking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2,923 chunks from video transcripts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57400"/>
            <a:ext cx="84124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213055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Processing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23160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Parse academic PDFs using PyPDF2 + pdfplumber for layout-aware extraction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8775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 headers/footers, page numbers, and artifacts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75234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Chunk by sections/pages (max 800 chars) with title metadata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291693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9,661 chunks from 15+ AI/ML textbooks and papers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841248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8640" y="34107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Scrape modern AI primers from Aman.ai using BeautifulSoup4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867912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Remove navigation, ads, and non-content HTML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032504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Chunk by article sections (max 600 chars)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197096"/>
            <a:ext cx="8046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133 chunks from 12 web articles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A1A2E"/>
          </a:solidFill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chunks embedded with all-MiniLM-L6-v2 (384-dim) and stored in FAISS IndexFlatIP for fast similarity search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Content Sources</a:t>
            </a:r>
            <a:endParaRPr lang="en-US" sz="2600" dirty="0"/>
          </a:p>
        </p:txBody>
      </p:sp>
      <p:pic>
        <p:nvPicPr>
          <p:cNvPr id="4" name="Image 0" descr="C:\Users\devan\OneDrive\Desktop\NLP\images\Screenshot 2026-05-20 20433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640080"/>
            <a:ext cx="521208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0" y="685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Statistics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0" y="1097280"/>
            <a:ext cx="3200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760720" y="11155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Chunks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06640" y="11155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12,717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1691640"/>
            <a:ext cx="3200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760720" y="1709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Sources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17099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E4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9,661 (76%)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69280" y="2286000"/>
            <a:ext cx="3200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760720" y="2304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Chunks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23042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2,923 (23%)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0" y="2880360"/>
            <a:ext cx="3200400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760720" y="2898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Chunks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289864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(1%)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0" y="3886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 Unstructured academic text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669280" y="41330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SRT transcripts (annotated with timestamps)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0" y="4379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Web: Scraped HTML articles (unstructured)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669280" y="46268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Embeddings: 384-dim dense vectors (all-MiniLM-L6-v2)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Embedding Models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4114800" cy="2743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4114800" cy="384048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722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 Lite Preview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Decoder-only transformer (autoregressive)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99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Multimodal: text + image (used text-only here)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Instruction-tuned via RLHF for helpful responses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579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Context window: 1M tokens (supports full retrieval context)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Role: Final answer generation from assembled context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API: Google Generative AI (free tier)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685800"/>
            <a:ext cx="4114800" cy="1508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685800"/>
            <a:ext cx="4114800" cy="384048"/>
          </a:xfrm>
          <a:prstGeom prst="rect">
            <a:avLst/>
          </a:prstGeom>
          <a:solidFill>
            <a:srgbClr val="0D2C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0600" y="7223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 (Embeddings)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11704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Sentence Transformer (bi-encoder)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4356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384-dimensional dense embeddings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7007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Trained on 1B+ sentence pairs (MS MARCO, NLI)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9659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Cosine similarity via FAISS IndexFlatIP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11480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4114800" cy="384048"/>
          </a:xfrm>
          <a:prstGeom prst="rect">
            <a:avLst/>
          </a:prstGeom>
          <a:solidFill>
            <a:srgbClr val="2C1A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00600" y="2368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ms-marco-MiniLM-L-6-v2  (Reranker)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807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Cross-encoder: jointly encodes query + passage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0083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Fine-tuned on MS MARCO passage ranking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2095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Used for cross-modal adaptive reranking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1E1B4B"/>
          </a:solidFill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48640" y="36758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Integration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97764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[all-MiniLM-L6-v2 embedding] → [FAISS retrieval: top-25 per modality] → [ms-marco cross-encoder reranking: top-3 per modality] → [Context assembly] → [Gemini 3.1 generation] → Answer + Video timestamp links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Metrics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394460"/>
              </p:ext>
            </p:extLst>
          </p:nvPr>
        </p:nvGraphicFramePr>
        <p:xfrm>
          <a:off x="365760" y="960120"/>
          <a:ext cx="420624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P@3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R@5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640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Quality Metrics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60120"/>
          <a:ext cx="4023360" cy="22402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Multi-Modal Consistency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Coherence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Utilization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Diversity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RAG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Modality Classification (Cross-Modal Prediction)</a:t>
            </a:r>
            <a:endParaRPr lang="en-US" sz="1200" dirty="0"/>
          </a:p>
        </p:txBody>
      </p:sp>
      <p:graphicFrame>
        <p:nvGraphicFramePr>
          <p:cNvPr id="5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337560"/>
          <a:ext cx="8412480" cy="15544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(Aman.ai)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66622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72-Query Test Suite Results</a:t>
            </a:r>
            <a:endParaRPr lang="en-US" sz="12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669339"/>
              </p:ext>
            </p:extLst>
          </p:nvPr>
        </p:nvGraphicFramePr>
        <p:xfrm>
          <a:off x="365760" y="1630679"/>
          <a:ext cx="8412480" cy="2635157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6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2148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2100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NLP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11.74s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2249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Vision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2050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11.89s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1949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4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12.66s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1983 chars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40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713232"/>
            <a:ext cx="4114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100% query success rate (72/72)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0.83/1.0 RAG quality — EXCELLENT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Perfect retrieval: MAP=1.0, MRR=1.0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97% modality prediction accuracy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100% temporal coherence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3 novel Video RAG innovations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12,717 chunks across 3 modalities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867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+11–28% over industry average RAG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713232"/>
            <a:ext cx="411480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92040" y="7863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video indexing from new uploads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Student progress-aware personalization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19751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Visual frame extraction from video (true multimodal)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Expand to 20+ course playlists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7797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Fine-tune embeddings on domain-specific data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31821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Hybrid sparse-dense retrieval (BM25 + FAISS)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LLM-based query rewriting for better recall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9867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Deploy as Gradio app for public access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1280</Words>
  <Application>Microsoft Office PowerPoint</Application>
  <PresentationFormat>On-screen Show (16:9)</PresentationFormat>
  <Paragraphs>249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Multi-Modal RAG System</dc:title>
  <dc:subject>PptxGenJS Presentation</dc:subject>
  <dc:creator>PptxGenJS</dc:creator>
  <cp:lastModifiedBy>Devansh Kaila</cp:lastModifiedBy>
  <cp:revision>1</cp:revision>
  <dcterms:created xsi:type="dcterms:W3CDTF">2026-05-20T17:37:29Z</dcterms:created>
  <dcterms:modified xsi:type="dcterms:W3CDTF">2026-05-21T05:10:25Z</dcterms:modified>
</cp:coreProperties>
</file>